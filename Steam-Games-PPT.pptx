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Semi Bold"/>
      <p:regular r:id="rId17"/>
    </p:embeddedFont>
    <p:embeddedFont>
      <p:font typeface="DM Sans Semi Bold"/>
      <p:regular r:id="rId18"/>
    </p:embeddedFont>
    <p:embeddedFont>
      <p:font typeface="DM Sans Semi Bold"/>
      <p:regular r:id="rId19"/>
    </p:embeddedFont>
    <p:embeddedFont>
      <p:font typeface="DM Sans Semi Bold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95326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Steam ETL Pipeline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468910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end-to-end data engineering project — from live web scraping to business insights — powered by Python, MongoDB Atlas, and automated CLI control.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3010123"/>
            <a:ext cx="1039713" cy="233214"/>
          </a:xfrm>
          <a:prstGeom prst="roundRect">
            <a:avLst>
              <a:gd name="adj" fmla="val 38297"/>
            </a:avLst>
          </a:prstGeom>
          <a:solidFill>
            <a:srgbClr val="FFCCD1"/>
          </a:solidFill>
          <a:ln/>
        </p:spPr>
      </p:sp>
      <p:sp>
        <p:nvSpPr>
          <p:cNvPr id="6" name="Text 3"/>
          <p:cNvSpPr/>
          <p:nvPr/>
        </p:nvSpPr>
        <p:spPr>
          <a:xfrm>
            <a:off x="570533" y="3047330"/>
            <a:ext cx="134808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ENGINEERING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597819" y="3005361"/>
            <a:ext cx="1052140" cy="242739"/>
          </a:xfrm>
          <a:prstGeom prst="roundRect">
            <a:avLst>
              <a:gd name="adj" fmla="val 36794"/>
            </a:avLst>
          </a:prstGeom>
          <a:noFill/>
          <a:ln w="4763">
            <a:solidFill>
              <a:srgbClr val="FFC7C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76995" y="3047330"/>
            <a:ext cx="135098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FFC7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ETL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592" y="276895"/>
            <a:ext cx="3452366" cy="2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Full Pipeline at a Glance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356592" y="683568"/>
            <a:ext cx="8787408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Seven discrete stages take raw Steam Store pages and transform them into actionable business intelligence. Each stage is modular, automated, and designed for reuse.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592" y="878160"/>
            <a:ext cx="8430816" cy="37938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7946" y="983165"/>
            <a:ext cx="1703987" cy="22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Scraping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26546" y="1276013"/>
            <a:ext cx="1475387" cy="470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 raw HTML from Steam store pages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5560" y="2072492"/>
            <a:ext cx="325322" cy="3253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57120" y="3906833"/>
            <a:ext cx="1712093" cy="22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Cleaning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085720" y="4199681"/>
            <a:ext cx="1483493" cy="313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Normalize, dedupe, and validate records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8160" y="3258782"/>
            <a:ext cx="325322" cy="32532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00081" y="1033071"/>
            <a:ext cx="1703987" cy="22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Storage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528681" y="1325919"/>
            <a:ext cx="1475387" cy="313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Persist cleaned data to MongoDB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8830" y="2040212"/>
            <a:ext cx="325321" cy="32532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59255" y="3828554"/>
            <a:ext cx="1703987" cy="22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987855" y="4121402"/>
            <a:ext cx="1475387" cy="470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datasets for downstream use and visualization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57220" y="3258782"/>
            <a:ext cx="325322" cy="32532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56592" y="4744045"/>
            <a:ext cx="8787408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Think of this as a factory line — raw HTML goes in one end, and polished insights come out the other. Every step has a single responsibility, making the system easy to debug, extend, and rerun on demand.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72517"/>
            <a:ext cx="356212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1: Web Scraping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946100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pipeline kicks off with automated, real-time data collection directly from the live Steam Store.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1482551"/>
            <a:ext cx="4722763" cy="1159222"/>
          </a:xfrm>
          <a:prstGeom prst="roundRect">
            <a:avLst>
              <a:gd name="adj" fmla="val 5916"/>
            </a:avLst>
          </a:prstGeom>
          <a:solidFill>
            <a:srgbClr val="FFFFFF"/>
          </a:solidFill>
          <a:ln w="14288">
            <a:solidFill>
              <a:srgbClr val="E5B2B7"/>
            </a:solidFill>
            <a:prstDash val="solid"/>
          </a:ln>
          <a:effectLst>
            <a:outerShdw sx="100000" sy="100000" kx="0" ky="0" algn="bl" rotWithShape="0" blurRad="0" dist="15240" dir="2700000">
              <a:srgbClr val="e5b2b7">
                <a:alpha val="10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31" y="1482551"/>
            <a:ext cx="57150" cy="11592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7242" y="1620813"/>
            <a:ext cx="2496071" cy="20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HTTP Requests via 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77242" y="1903363"/>
            <a:ext cx="4403378" cy="60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call targets Steam's search endpoint. The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parameter handles pagination, pulling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 games per page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multiple pages for large-scale coverage.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96119" y="2765747"/>
            <a:ext cx="4722763" cy="114017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4288">
            <a:solidFill>
              <a:srgbClr val="E5B2B7"/>
            </a:solidFill>
            <a:prstDash val="solid"/>
          </a:ln>
          <a:effectLst>
            <a:outerShdw sx="100000" sy="100000" kx="0" ky="0" algn="bl" rotWithShape="0" blurRad="0" dist="15240" dir="2700000">
              <a:srgbClr val="e5b2b7">
                <a:alpha val="10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31" y="2765747"/>
            <a:ext cx="57150" cy="11401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7242" y="2904009"/>
            <a:ext cx="2450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Parsing with BeautifulSoup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77242" y="3172271"/>
            <a:ext cx="440337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HTML is parsed to extract structured fields: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Title, Price, Discount, Release Date,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 support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Results are stored as a clean list of dictionaries.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96119" y="4045446"/>
            <a:ext cx="4722763" cy="725463"/>
          </a:xfrm>
          <a:prstGeom prst="roundRect">
            <a:avLst>
              <a:gd name="adj" fmla="val 15389"/>
            </a:avLst>
          </a:prstGeom>
          <a:solidFill>
            <a:srgbClr val="B6D6F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92" y="4229993"/>
            <a:ext cx="155004" cy="12397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9071" y="4200376"/>
            <a:ext cx="4195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Idea: No manual downloads. The scraper runs on demand, always pulling the freshest data directly from Steam.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5922"/>
            <a:ext cx="631224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2: Data Cleaning &amp; Transformation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6149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scraped data is rarely analysis-ready. This stage uses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normalize, repair, and enrich the dataset before it touches the database.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99481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26456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Type Conversion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532831"/>
            <a:ext cx="399834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Price strings like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"$19.99"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are cast to floats. Discount strings become integer percentages. Inconsistent formats are unified.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1799481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9465" y="2264569"/>
            <a:ext cx="21647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Missing Value Handling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49465" y="2532831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Free-to-play games often have no price field. Null values are explicitly handled to prevent downstream errors in aggregations.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82541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64762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6119" y="3915891"/>
            <a:ext cx="399834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new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game_type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column is derived — classifying each title as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Paid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enabling cleaner segmentation in analytics.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465" y="3182541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9465" y="364762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49465" y="3915891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Duplicate records introduced by overlapping scrape runs are detected and dropped, ensuring data integrity before storage.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358750"/>
            <a:ext cx="4738241" cy="763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3: Data Storage — MongoDB Atlas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88379" y="1302023"/>
            <a:ext cx="473824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records are persisted in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MongoDB Atlas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 fully managed cloud database. Two key design decisions ensure reliability and scalability.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00496" y="1824930"/>
            <a:ext cx="2395984" cy="2959819"/>
          </a:xfrm>
          <a:prstGeom prst="roundRect">
            <a:avLst>
              <a:gd name="adj" fmla="val 7339"/>
            </a:avLst>
          </a:prstGeom>
          <a:solidFill>
            <a:srgbClr val="FFC7CD"/>
          </a:solidFill>
          <a:ln/>
        </p:spPr>
      </p:sp>
      <p:sp>
        <p:nvSpPr>
          <p:cNvPr id="6" name="Text 3"/>
          <p:cNvSpPr/>
          <p:nvPr/>
        </p:nvSpPr>
        <p:spPr>
          <a:xfrm>
            <a:off x="522536" y="1945109"/>
            <a:ext cx="216336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Bulk Upsert Operations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22536" y="2256011"/>
            <a:ext cx="2151906" cy="969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Rather than inserting blindly, each write operation checks for an existing record first. If found, it updates in place. If not, it inserts. This makes reruns safe and idempotent.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011165" y="1945109"/>
            <a:ext cx="1992660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Unique Index on Title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11165" y="2256011"/>
            <a:ext cx="2220218" cy="969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MongoDB enforces a unique constraint on the game title field at the database level — a second line of defense against duplicate data creeping into the collection over time.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011165" y="3360465"/>
            <a:ext cx="2220218" cy="1289075"/>
          </a:xfrm>
          <a:prstGeom prst="roundRect">
            <a:avLst>
              <a:gd name="adj" fmla="val 8525"/>
            </a:avLst>
          </a:prstGeom>
          <a:solidFill>
            <a:srgbClr val="B6FCB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204" y="3539579"/>
            <a:ext cx="152623" cy="1220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7866" y="3511153"/>
            <a:ext cx="1701478" cy="969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Idea: MongoDB is the single source of truth. Scalable, persistent, and cloud-accessible from anywhere.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8618"/>
            <a:ext cx="364896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4: Data Retrieval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8418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 data lives in MongoDB, there's no need to re-scrape Steam on every run. The retrieval layer loads records directly from the database — dramatically faster and less brittle than hitting a live website repeatedly.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20639"/>
            <a:ext cx="4075881" cy="4961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0092" y="2640732"/>
            <a:ext cx="23209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Primary: MongoDB Query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0092" y="2908995"/>
            <a:ext cx="382793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is fetched directly from the Atlas collection using a simple find query and loaded into a pandas DataFrame for downstream processing.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20639"/>
            <a:ext cx="4075881" cy="4961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95974" y="2640732"/>
            <a:ext cx="20534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Fallback: CSV Backup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95974" y="2908995"/>
            <a:ext cx="382793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 MongoDB collection is empty — for example, during a first run or a connectivity issue — the system gracefully falls back to a local CSV export.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96119" y="3767882"/>
            <a:ext cx="8151763" cy="527000"/>
          </a:xfrm>
          <a:prstGeom prst="roundRect">
            <a:avLst>
              <a:gd name="adj" fmla="val 21184"/>
            </a:avLst>
          </a:prstGeom>
          <a:solidFill>
            <a:srgbClr val="FFB3B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952429"/>
            <a:ext cx="155004" cy="1239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9071" y="3922812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Idea: Efficient data reuse. Scrape once, analyze many times.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1092"/>
            <a:ext cx="436892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5: Business Analytics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3666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clean, structured data in memory, the analytics layer surfaces the insights that actually matter to stakeholders. All analysis is performed using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 aggregations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the loaded DataFrame.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173114"/>
            <a:ext cx="4013895" cy="922660"/>
          </a:xfrm>
          <a:prstGeom prst="roundRect">
            <a:avLst>
              <a:gd name="adj" fmla="val 12100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0" dist="15240" dir="2700000">
              <a:srgbClr val="e5b2b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4855" y="230185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Pricing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570113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game price across the catalog. Most expensive titles ranked by price.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3987" y="2173114"/>
            <a:ext cx="4013895" cy="922660"/>
          </a:xfrm>
          <a:prstGeom prst="roundRect">
            <a:avLst>
              <a:gd name="adj" fmla="val 12100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0" dist="15240" dir="2700000">
              <a:srgbClr val="e5b2b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62723" y="230185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🆓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Free vs. Paid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723" y="2570113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Distribution split between free-to-play and paid titles. Share of each segment.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3219748"/>
            <a:ext cx="4013895" cy="922660"/>
          </a:xfrm>
          <a:prstGeom prst="roundRect">
            <a:avLst>
              <a:gd name="adj" fmla="val 12100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0" dist="15240" dir="2700000">
              <a:srgbClr val="e5b2b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4855" y="334848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🏷️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Discounts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855" y="3616747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discount percentages in the dataset. Identifying best-value deals on Steam.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3987" y="3219748"/>
            <a:ext cx="4013895" cy="922660"/>
          </a:xfrm>
          <a:prstGeom prst="roundRect">
            <a:avLst>
              <a:gd name="adj" fmla="val 12100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0" dist="15240" dir="2700000">
              <a:srgbClr val="e5b2b7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62723" y="334848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🎮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Platforms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723" y="3616747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Popularity breakdown across Windows, Mac, and Linux. Cross-platform coverage rates.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57759"/>
            <a:ext cx="424896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6: Data Visualization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9332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Numbers in a table tell a story — charts make that story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undeniable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This stage uses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Matplotlib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Seaborn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render the analytics output into publication-ready visuals.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529780"/>
            <a:ext cx="574997" cy="3553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6121" y="2529780"/>
            <a:ext cx="228399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Free vs. Paid — Pie Chart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26121" y="2798043"/>
            <a:ext cx="18838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Instantly shows the market share split between free-to-play and paid titles in the scraped catalog.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991" y="2529780"/>
            <a:ext cx="574997" cy="3553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94993" y="2529780"/>
            <a:ext cx="188394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Platform Distribution — Bar Chart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994993" y="2991892"/>
            <a:ext cx="1883941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Visualizes how game support is distributed across Windows, Mac, and Linux platforms.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939" y="2529780"/>
            <a:ext cx="574997" cy="3553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63941" y="2529780"/>
            <a:ext cx="188394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Top Discounts &amp; Expensive Games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763941" y="2991892"/>
            <a:ext cx="188394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Ranked charts highlighting the steepest discounts and highest-priced titles — ideal for deal-hunting analysis.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1470"/>
            <a:ext cx="4156025" cy="348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Step 7: CLI Control — </a:t>
            </a:r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925119" y="934343"/>
            <a:ext cx="4722763" cy="477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entire pipeline is orchestrated through a single entry point: 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Command-line arguments give operators precise control over what runs, when, and at what scale — without touching the source code.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3925119" y="1512763"/>
            <a:ext cx="4722763" cy="779338"/>
          </a:xfrm>
          <a:prstGeom prst="roundRect">
            <a:avLst>
              <a:gd name="adj" fmla="val 12176"/>
            </a:avLst>
          </a:prstGeom>
          <a:solidFill>
            <a:srgbClr val="FFFFFF"/>
          </a:solidFill>
          <a:ln w="14288">
            <a:solidFill>
              <a:srgbClr val="E5B2B7"/>
            </a:solidFill>
            <a:prstDash val="solid"/>
          </a:ln>
          <a:effectLst>
            <a:outerShdw sx="100000" sy="100000" kx="0" ky="0" algn="bl" rotWithShape="0" blurRad="0" dist="13970" dir="2700000">
              <a:srgbClr val="e5b2b7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939406" y="1527051"/>
            <a:ext cx="421704" cy="750763"/>
          </a:xfrm>
          <a:prstGeom prst="roundRect">
            <a:avLst>
              <a:gd name="adj" fmla="val 18437"/>
            </a:avLst>
          </a:prstGeom>
          <a:solidFill>
            <a:srgbClr val="FFCCD1"/>
          </a:solidFill>
          <a:ln/>
          <a:effectLst>
            <a:outerShdw sx="100000" sy="100000" kx="0" ky="0" algn="bl" rotWithShape="0" blurRad="0" dist="13970" dir="2700000">
              <a:srgbClr val="e5b2b7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840212" y="1803574"/>
            <a:ext cx="3867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450705" y="1632421"/>
            <a:ext cx="1775147" cy="17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--refresh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50705" y="1860352"/>
            <a:ext cx="4077519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Triggers a fresh scrape from Steam. Use this to update the dataset with the latest prices, discounts, and newly released titles.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925119" y="2381696"/>
            <a:ext cx="4722763" cy="779338"/>
          </a:xfrm>
          <a:prstGeom prst="roundRect">
            <a:avLst>
              <a:gd name="adj" fmla="val 12176"/>
            </a:avLst>
          </a:prstGeom>
          <a:solidFill>
            <a:srgbClr val="FFFFFF"/>
          </a:solidFill>
          <a:ln w="14288">
            <a:solidFill>
              <a:srgbClr val="E5B2B7"/>
            </a:solidFill>
            <a:prstDash val="solid"/>
          </a:ln>
          <a:effectLst>
            <a:outerShdw sx="100000" sy="100000" kx="0" ky="0" algn="bl" rotWithShape="0" blurRad="0" dist="13970" dir="2700000">
              <a:srgbClr val="e5b2b7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939406" y="2395984"/>
            <a:ext cx="421704" cy="750763"/>
          </a:xfrm>
          <a:prstGeom prst="roundRect">
            <a:avLst>
              <a:gd name="adj" fmla="val 18437"/>
            </a:avLst>
          </a:prstGeom>
          <a:solidFill>
            <a:srgbClr val="FFCCD1"/>
          </a:solidFill>
          <a:ln/>
          <a:effectLst>
            <a:outerShdw sx="100000" sy="100000" kx="0" ky="0" algn="bl" rotWithShape="0" blurRad="0" dist="13970" dir="2700000">
              <a:srgbClr val="e5b2b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840212" y="2672507"/>
            <a:ext cx="3867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50705" y="2501354"/>
            <a:ext cx="1775147" cy="17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--export-csv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50705" y="2729285"/>
            <a:ext cx="4077519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Saves the current MongoDB collection to a local CSV file. Acts as a portable backup and enables offline analysis.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925119" y="3250629"/>
            <a:ext cx="4722763" cy="779338"/>
          </a:xfrm>
          <a:prstGeom prst="roundRect">
            <a:avLst>
              <a:gd name="adj" fmla="val 12176"/>
            </a:avLst>
          </a:prstGeom>
          <a:solidFill>
            <a:srgbClr val="FFFFFF"/>
          </a:solidFill>
          <a:ln w="14288">
            <a:solidFill>
              <a:srgbClr val="E5B2B7"/>
            </a:solidFill>
            <a:prstDash val="solid"/>
          </a:ln>
          <a:effectLst>
            <a:outerShdw sx="100000" sy="100000" kx="0" ky="0" algn="bl" rotWithShape="0" blurRad="0" dist="13970" dir="2700000">
              <a:srgbClr val="e5b2b7">
                <a:alpha val="10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939406" y="3264917"/>
            <a:ext cx="421704" cy="750763"/>
          </a:xfrm>
          <a:prstGeom prst="roundRect">
            <a:avLst>
              <a:gd name="adj" fmla="val 18437"/>
            </a:avLst>
          </a:prstGeom>
          <a:solidFill>
            <a:srgbClr val="FFCCD1"/>
          </a:solidFill>
          <a:ln/>
          <a:effectLst>
            <a:outerShdw sx="100000" sy="100000" kx="0" ky="0" algn="bl" rotWithShape="0" blurRad="0" dist="13970" dir="2700000">
              <a:srgbClr val="e5b2b7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840212" y="3541440"/>
            <a:ext cx="3867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50705" y="3370287"/>
            <a:ext cx="1775147" cy="17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--max-pages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50705" y="3598218"/>
            <a:ext cx="4077519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Controls how many Steam search pages to scrape. Set low for quick tests, high for production-scale data collection.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925119" y="4130725"/>
            <a:ext cx="4722763" cy="561305"/>
          </a:xfrm>
          <a:prstGeom prst="roundRect">
            <a:avLst>
              <a:gd name="adj" fmla="val 16906"/>
            </a:avLst>
          </a:prstGeom>
          <a:solidFill>
            <a:srgbClr val="B6FCB8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489" y="4279776"/>
            <a:ext cx="131787" cy="10537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67646" y="4246662"/>
            <a:ext cx="4274865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Idea: One command runs everything. The pipeline is fully reusable, configurable, and CI/CD friendly.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6973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One-Line Story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40557"/>
            <a:ext cx="8151763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FF2E45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Scrape</a:t>
            </a:r>
            <a:pPr algn="ctr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→ Clean → Store → Load → Analyze → </a:t>
            </a:r>
            <a:pPr algn="ctr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FF2E45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Visualize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496119" y="249636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 verbs. Seven steps. One automated pipeline that turns a live gaming marketplace into structured business intelligence — on demand, at scale, with a single CLI command.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3032820"/>
            <a:ext cx="8151763" cy="1443633"/>
          </a:xfrm>
          <a:prstGeom prst="roundRect">
            <a:avLst>
              <a:gd name="adj" fmla="val 7733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0" dist="15240" dir="2700000">
              <a:srgbClr val="e5b2b7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0881" y="3037582"/>
            <a:ext cx="4071119" cy="714673"/>
          </a:xfrm>
          <a:prstGeom prst="roundRect">
            <a:avLst>
              <a:gd name="adj" fmla="val 15621"/>
            </a:avLst>
          </a:prstGeom>
          <a:solidFill>
            <a:srgbClr val="FFCCD1"/>
          </a:solidFill>
          <a:ln/>
        </p:spPr>
      </p:sp>
      <p:sp>
        <p:nvSpPr>
          <p:cNvPr id="7" name="Text 5"/>
          <p:cNvSpPr/>
          <p:nvPr/>
        </p:nvSpPr>
        <p:spPr>
          <a:xfrm>
            <a:off x="624855" y="316155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Data Source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4855" y="3429819"/>
            <a:ext cx="42803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Steam Store (live)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3037582"/>
            <a:ext cx="4071119" cy="714673"/>
          </a:xfrm>
          <a:prstGeom prst="rect">
            <a:avLst/>
          </a:prstGeom>
          <a:solidFill>
            <a:srgbClr val="FFCCD1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3037582"/>
            <a:ext cx="14288" cy="714673"/>
          </a:xfrm>
          <a:prstGeom prst="roundRect">
            <a:avLst>
              <a:gd name="adj" fmla="val 781369"/>
            </a:avLst>
          </a:prstGeom>
          <a:solidFill>
            <a:srgbClr val="E5B2B7"/>
          </a:solidFill>
          <a:ln/>
        </p:spPr>
      </p:sp>
      <p:sp>
        <p:nvSpPr>
          <p:cNvPr id="11" name="Text 9"/>
          <p:cNvSpPr/>
          <p:nvPr/>
        </p:nvSpPr>
        <p:spPr>
          <a:xfrm>
            <a:off x="4695974" y="316155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🛠️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Core Stack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5974" y="3429819"/>
            <a:ext cx="42803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· pandas · BeautifulSoup · MongoDB Atlas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0881" y="3752255"/>
            <a:ext cx="4071119" cy="719435"/>
          </a:xfrm>
          <a:prstGeom prst="rect">
            <a:avLst/>
          </a:prstGeom>
          <a:solidFill>
            <a:srgbClr val="FFCCD1"/>
          </a:solidFill>
          <a:ln/>
        </p:spPr>
      </p:sp>
      <p:sp>
        <p:nvSpPr>
          <p:cNvPr id="14" name="Shape 12"/>
          <p:cNvSpPr/>
          <p:nvPr/>
        </p:nvSpPr>
        <p:spPr>
          <a:xfrm>
            <a:off x="500881" y="3752255"/>
            <a:ext cx="4071119" cy="14288"/>
          </a:xfrm>
          <a:prstGeom prst="roundRect">
            <a:avLst>
              <a:gd name="adj" fmla="val 781369"/>
            </a:avLst>
          </a:prstGeom>
          <a:solidFill>
            <a:srgbClr val="E5B2B7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55" y="387622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855" y="4144491"/>
            <a:ext cx="42803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Charts · Analytics · CSV Exports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3752255"/>
            <a:ext cx="4071119" cy="719435"/>
          </a:xfrm>
          <a:prstGeom prst="rect">
            <a:avLst/>
          </a:prstGeom>
          <a:solidFill>
            <a:srgbClr val="FFCCD1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3752255"/>
            <a:ext cx="14288" cy="719435"/>
          </a:xfrm>
          <a:prstGeom prst="roundRect">
            <a:avLst>
              <a:gd name="adj" fmla="val 781369"/>
            </a:avLst>
          </a:prstGeom>
          <a:solidFill>
            <a:srgbClr val="E5B2B7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3752255"/>
            <a:ext cx="4071119" cy="14288"/>
          </a:xfrm>
          <a:prstGeom prst="roundRect">
            <a:avLst>
              <a:gd name="adj" fmla="val 781369"/>
            </a:avLst>
          </a:prstGeom>
          <a:solidFill>
            <a:srgbClr val="E5B2B7"/>
          </a:solidFill>
          <a:ln/>
        </p:spPr>
      </p:sp>
      <p:sp>
        <p:nvSpPr>
          <p:cNvPr id="20" name="Text 18"/>
          <p:cNvSpPr/>
          <p:nvPr/>
        </p:nvSpPr>
        <p:spPr>
          <a:xfrm>
            <a:off x="4695974" y="387622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Control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95974" y="4144491"/>
            <a:ext cx="4280371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 arguments via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2026-05-18T08:48:54Z</dcterms:created>
  <dcterms:modified xsi:type="dcterms:W3CDTF">2026-05-18T08:48:54Z</dcterms:modified>
</cp:coreProperties>
</file>